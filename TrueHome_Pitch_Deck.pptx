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0066CC"/>
                </a:solidFill>
              </a:defRPr>
            </a:pPr>
            <a:r>
              <a:t>TrueHome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808080"/>
                </a:solidFill>
              </a:defRPr>
            </a:pPr>
            <a:r>
              <a:t>Carfax for Homes - Know Your Home's Complete History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808080"/>
                </a:solidFill>
              </a:defRPr>
            </a:pPr>
            <a:r>
              <a:t>Pitch Deck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66CC"/>
                </a:solidFill>
              </a:defRPr>
            </a:pPr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3200" b="1"/>
            </a:pPr>
            <a:r>
              <a:t>Home Buyers Are Flying Blind</a:t>
            </a:r>
          </a:p>
          <a:p/>
          <a:p>
            <a:pPr>
              <a:defRPr sz="2000" b="1"/>
            </a:pPr>
            <a:r>
              <a:t>68% of home buyers discover major issues after purchase</a:t>
            </a:r>
          </a:p>
          <a:p>
            <a:pPr>
              <a:defRPr sz="2000" b="1"/>
            </a:pPr>
            <a:r>
              <a:t>$15,000 average cost of unexpected repairs in first year</a:t>
            </a:r>
          </a:p>
          <a:p/>
          <a:p>
            <a:pPr>
              <a:defRPr sz="1800"/>
            </a:pPr>
            <a:r>
              <a:t>• No centralized property history database</a:t>
            </a:r>
          </a:p>
          <a:p>
            <a:pPr>
              <a:defRPr sz="1800"/>
            </a:pPr>
            <a:r>
              <a:t>• Hidden issues (flooding, structural problems, unpermitted work)</a:t>
            </a:r>
          </a:p>
          <a:p>
            <a:pPr>
              <a:defRPr sz="1800"/>
            </a:pPr>
            <a:r>
              <a:t>• Incomplete information from sellers</a:t>
            </a:r>
          </a:p>
          <a:p>
            <a:pPr>
              <a:defRPr sz="1800"/>
            </a:pPr>
            <a:r>
              <a:t>• Expensive inspections don't reveal history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66CC"/>
                </a:solidFill>
              </a:defRPr>
            </a:pPr>
            <a:r>
              <a:t>The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800" b="1"/>
            </a:pPr>
            <a:r>
              <a:t>Complete Property History at Your Fingertips</a:t>
            </a:r>
          </a:p>
          <a:p/>
          <a:p>
            <a:pPr>
              <a:defRPr sz="1800"/>
            </a:pPr>
            <a:r>
              <a:t>✓ Sales history, work records, insurance claims</a:t>
            </a:r>
          </a:p>
          <a:p>
            <a:pPr>
              <a:defRPr sz="1800"/>
            </a:pPr>
            <a:r>
              <a:t>✓ Title issues, environmental assessments</a:t>
            </a:r>
          </a:p>
          <a:p>
            <a:pPr>
              <a:defRPr sz="1800"/>
            </a:pPr>
            <a:r>
              <a:t>✓ Maintenance records and warranties</a:t>
            </a:r>
          </a:p>
          <a:p>
            <a:pPr>
              <a:defRPr sz="1800"/>
            </a:pPr>
            <a:r>
              <a:t>✓ AI-powered risk assessment and recommendations</a:t>
            </a:r>
          </a:p>
          <a:p>
            <a:pPr>
              <a:defRPr sz="1800"/>
            </a:pPr>
            <a:r>
              <a:t>✓ TrueHome Certified professional network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66CC"/>
                </a:solidFill>
              </a:defRPr>
            </a:pPr>
            <a:r>
              <a:t>Market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800" b="1"/>
            </a:pPr>
            <a:r>
              <a:t>Massive Market, Growing Demand</a:t>
            </a:r>
          </a:p>
          <a:p/>
          <a:p>
            <a:pPr>
              <a:defRPr sz="2000" b="1"/>
            </a:pPr>
            <a:r>
              <a:t>TAM: $200B+ US real estate market</a:t>
            </a:r>
          </a:p>
          <a:p>
            <a:pPr>
              <a:defRPr sz="1800"/>
            </a:pPr>
            <a:r>
              <a:t>6M+ home sales annually</a:t>
            </a:r>
          </a:p>
          <a:p/>
          <a:p>
            <a:pPr>
              <a:defRPr sz="2000" b="1"/>
            </a:pPr>
            <a:r>
              <a:t>SAM: 2M+ home buyers per year seeking reports</a:t>
            </a:r>
          </a:p>
          <a:p>
            <a:pPr>
              <a:defRPr sz="1800"/>
            </a:pPr>
            <a:r>
              <a:t>$100M+ annual market opportunity</a:t>
            </a:r>
          </a:p>
          <a:p/>
          <a:p>
            <a:pPr>
              <a:defRPr sz="2000" b="1"/>
            </a:pPr>
            <a:r>
              <a:t>SOM: Year 3 target - 100,000 reports = $5M revenue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66CC"/>
                </a:solidFill>
              </a:defRPr>
            </a:pPr>
            <a:r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800" b="1"/>
            </a:pPr>
            <a:r>
              <a:t>Simple, Powerful, Comprehensive</a:t>
            </a:r>
          </a:p>
          <a:p/>
          <a:p>
            <a:pPr>
              <a:defRPr sz="1800"/>
            </a:pPr>
            <a:r>
              <a:t>1. Search property address</a:t>
            </a:r>
          </a:p>
          <a:p>
            <a:pPr>
              <a:defRPr sz="1800"/>
            </a:pPr>
            <a:r>
              <a:t>2. View instant property overview</a:t>
            </a:r>
          </a:p>
          <a:p>
            <a:pPr>
              <a:defRPr sz="1800"/>
            </a:pPr>
            <a:r>
              <a:t>3. Purchase full report ($49.99)</a:t>
            </a:r>
          </a:p>
          <a:p>
            <a:pPr>
              <a:defRPr sz="1800"/>
            </a:pPr>
            <a:r>
              <a:t>4. Get comprehensive analysis with recommendations</a:t>
            </a:r>
          </a:p>
          <a:p/>
          <a:p>
            <a:pPr>
              <a:defRPr sz="1800" i="1"/>
            </a:pPr>
            <a:r>
              <a:t>Key Features: Risk scoring, Timeline, Certified professionals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66CC"/>
                </a:solidFill>
              </a:defRPr>
            </a:pPr>
            <a: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800" b="1"/>
            </a:pPr>
            <a:r>
              <a:t>Multiple Revenue Streams, High Margins</a:t>
            </a:r>
          </a:p>
          <a:p/>
          <a:p>
            <a:pPr>
              <a:defRPr sz="1800"/>
            </a:pPr>
            <a:r>
              <a:t>1. Individual Reports: $49.99 per report</a:t>
            </a:r>
          </a:p>
          <a:p>
            <a:pPr>
              <a:defRPr sz="1800"/>
            </a:pPr>
            <a:r>
              <a:t>2. Subscriptions: $9.99-$99.99/month (planned)</a:t>
            </a:r>
          </a:p>
          <a:p>
            <a:pPr>
              <a:defRPr sz="1800"/>
            </a:pPr>
            <a:r>
              <a:t>3. Marketplace: 10-15% commission (planned)</a:t>
            </a:r>
          </a:p>
          <a:p>
            <a:pPr>
              <a:defRPr sz="1800"/>
            </a:pPr>
            <a:r>
              <a:t>4. API Licensing: B2B data access (planned)</a:t>
            </a:r>
          </a:p>
          <a:p>
            <a:pPr>
              <a:defRPr sz="1800"/>
            </a:pPr>
            <a:r>
              <a:t>5. White-Label: Enterprise solutions (planned)</a:t>
            </a:r>
          </a:p>
          <a:p/>
          <a:p>
            <a:pPr>
              <a:defRPr sz="1800" b="1"/>
            </a:pPr>
            <a:r>
              <a:t>Unit Economics: 90%+ gross margin, $200+ LTV, &lt;$50 CAC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66CC"/>
                </a:solidFill>
              </a:defRPr>
            </a:pPr>
            <a:r>
              <a:t>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800" b="1"/>
            </a:pPr>
            <a:r>
              <a:t>Early Traction, Strong Foundation</a:t>
            </a:r>
          </a:p>
          <a:p/>
          <a:p>
            <a:pPr>
              <a:defRPr sz="1800"/>
            </a:pPr>
            <a:r>
              <a:t>✓ MVP launched and operational</a:t>
            </a:r>
          </a:p>
          <a:p>
            <a:pPr>
              <a:defRPr sz="1800"/>
            </a:pPr>
            <a:r>
              <a:t>✓ Full report generation system</a:t>
            </a:r>
          </a:p>
          <a:p>
            <a:pPr>
              <a:defRPr sz="1800"/>
            </a:pPr>
            <a:r>
              <a:t>✓ Sample data and comprehensive reports</a:t>
            </a:r>
          </a:p>
          <a:p>
            <a:pPr>
              <a:defRPr sz="1800"/>
            </a:pPr>
            <a:r>
              <a:t>✓ Professional website with sample report</a:t>
            </a:r>
          </a:p>
          <a:p>
            <a:pPr>
              <a:defRPr sz="1800"/>
            </a:pPr>
            <a:r>
              <a:t>✓ TrueHome Certified professional network concept</a:t>
            </a:r>
          </a:p>
          <a:p/>
          <a:p>
            <a:pPr>
              <a:defRPr sz="2000" b="1" i="1"/>
            </a:pPr>
            <a:r>
              <a:t>Ready to scale with investment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66CC"/>
                </a:solidFill>
              </a:defRPr>
            </a:pPr>
            <a:r>
              <a:t>Competitive Landscape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800" b="1"/>
            </a:pPr>
            <a:r>
              <a:t>First-Mover Advantage in a Fragmented Market</a:t>
            </a:r>
          </a:p>
          <a:p/>
          <a:p>
            <a:pPr>
              <a:defRPr sz="1600"/>
            </a:pPr>
            <a:r>
              <a:t>Home Inspections: One-time, expensive, no history</a:t>
            </a:r>
          </a:p>
          <a:p>
            <a:pPr>
              <a:defRPr sz="1600"/>
            </a:pPr>
            <a:r>
              <a:t>Public Records: Scattered, incomplete, hard to access</a:t>
            </a:r>
          </a:p>
          <a:p>
            <a:pPr>
              <a:defRPr sz="1600"/>
            </a:pPr>
            <a:r>
              <a:t>Real Estate Sites: Basic info only, no comprehensive history</a:t>
            </a:r>
          </a:p>
          <a:p/>
          <a:p>
            <a:pPr>
              <a:defRPr sz="1800" b="1">
                <a:solidFill>
                  <a:srgbClr val="0066CC"/>
                </a:solidFill>
              </a:defRPr>
            </a:pPr>
            <a:r>
              <a:t>TrueHome: Complete history, AI insights, certified network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66CC"/>
                </a:solidFill>
              </a:defRPr>
            </a:pPr>
            <a:r>
              <a:t>Go-to-Market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800" b="1"/>
            </a:pPr>
            <a:r>
              <a:t>Multi-Channel Growth Strategy</a:t>
            </a:r>
          </a:p>
          <a:p/>
          <a:p>
            <a:pPr>
              <a:defRPr sz="2000" b="1"/>
            </a:pPr>
            <a:r>
              <a:t>B2C Channels:</a:t>
            </a:r>
          </a:p>
          <a:p>
            <a:pPr>
              <a:defRPr sz="1600"/>
            </a:pPr>
            <a:r>
              <a:t>• SEO-optimized property pages</a:t>
            </a:r>
          </a:p>
          <a:p>
            <a:pPr>
              <a:defRPr sz="1600"/>
            </a:pPr>
            <a:r>
              <a:t>• Content marketing &amp; social media</a:t>
            </a:r>
          </a:p>
          <a:p>
            <a:pPr>
              <a:defRPr sz="1600"/>
            </a:pPr>
            <a:r>
              <a:t>• Referral program &amp; agent partnerships</a:t>
            </a:r>
          </a:p>
          <a:p/>
          <a:p>
            <a:pPr>
              <a:defRPr sz="2000" b="1"/>
            </a:pPr>
            <a:r>
              <a:t>B2B Channels:</a:t>
            </a:r>
          </a:p>
          <a:p>
            <a:pPr>
              <a:defRPr sz="1600"/>
            </a:pPr>
            <a:r>
              <a:t>• Real estate platform integrations (Zillow, Redfin)</a:t>
            </a:r>
          </a:p>
          <a:p>
            <a:pPr>
              <a:defRPr sz="1600"/>
            </a:pPr>
            <a:r>
              <a:t>• Mortgage lender &amp; insurance partnerships</a:t>
            </a:r>
          </a:p>
          <a:p>
            <a:pPr>
              <a:defRPr sz="1600"/>
            </a:pPr>
            <a:r>
              <a:t>• White-label solutions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66CC"/>
                </a:solidFill>
              </a:defRPr>
            </a:pPr>
            <a:r>
              <a:t>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 b="1"/>
            </a:pPr>
            <a:r>
              <a:t>Experienced Team Building the Future of Real Estate</a:t>
            </a:r>
          </a:p>
          <a:p/>
          <a:p>
            <a:pPr>
              <a:defRPr sz="1800" i="1"/>
            </a:pPr>
            <a:r>
              <a:t>[Add founder names, backgrounds, and key achievements]</a:t>
            </a:r>
          </a:p>
          <a:p/>
          <a:p>
            <a:pPr>
              <a:defRPr sz="2000" b="1"/>
            </a:pPr>
            <a:r>
              <a:t>Key Strengths:</a:t>
            </a:r>
          </a:p>
          <a:p>
            <a:pPr>
              <a:defRPr sz="1600"/>
            </a:pPr>
            <a:r>
              <a:t>• Real estate industry expertise</a:t>
            </a:r>
          </a:p>
          <a:p>
            <a:pPr>
              <a:defRPr sz="1600"/>
            </a:pPr>
            <a:r>
              <a:t>• Technology &amp; product development</a:t>
            </a:r>
          </a:p>
          <a:p>
            <a:pPr>
              <a:defRPr sz="1600"/>
            </a:pPr>
            <a:r>
              <a:t>• Business development &amp; partnerships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66CC"/>
                </a:solidFill>
              </a:defRPr>
            </a:pPr>
            <a:r>
              <a:t>Financial Projections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800" b="1"/>
            </a:pPr>
            <a:r>
              <a:t>Path to $10M ARR in 3 Years</a:t>
            </a:r>
          </a:p>
          <a:p/>
          <a:p>
            <a:pPr>
              <a:defRPr sz="1800" b="1"/>
            </a:pPr>
            <a:r>
              <a:t>Year 1: $500K revenue | 10,000 reports | 8,000 customers</a:t>
            </a:r>
          </a:p>
          <a:p>
            <a:pPr>
              <a:defRPr sz="1800" b="1"/>
            </a:pPr>
            <a:r>
              <a:t>Year 2: $2.5M revenue | 50,000 reports | 40,000 customers</a:t>
            </a:r>
          </a:p>
          <a:p>
            <a:pPr>
              <a:defRPr sz="1800" b="1"/>
            </a:pPr>
            <a:r>
              <a:t>Year 3: $10M revenue | 200,000 reports | 150,000 customers</a:t>
            </a:r>
          </a:p>
          <a:p/>
          <a:p>
            <a:pPr>
              <a:defRPr sz="1800" b="1"/>
            </a:pPr>
            <a:r>
              <a:t>Key Assumptions:</a:t>
            </a:r>
          </a:p>
          <a:p>
            <a:pPr>
              <a:defRPr sz="1600"/>
            </a:pPr>
            <a:r>
              <a:t>• 5% conversion rate | $50 CAC | 20% repeat rate | 70%+ gross margins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66CC"/>
                </a:solidFill>
              </a:defRPr>
            </a:pPr>
            <a:r>
              <a:t>The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 b="1"/>
            </a:pPr>
            <a:r>
              <a:t>Join Us in Transforming Real Estate Transparency</a:t>
            </a:r>
          </a:p>
          <a:p/>
          <a:p>
            <a:pPr>
              <a:defRPr sz="2400" b="1">
                <a:solidFill>
                  <a:srgbClr val="0066CC"/>
                </a:solidFill>
              </a:defRPr>
            </a:pPr>
            <a:r>
              <a:t>Funding Ask: $2M Seed Round</a:t>
            </a:r>
          </a:p>
          <a:p/>
          <a:p>
            <a:pPr>
              <a:defRPr sz="2000" b="1"/>
            </a:pPr>
            <a:r>
              <a:t>Use of Funds:</a:t>
            </a:r>
          </a:p>
          <a:p>
            <a:pPr>
              <a:defRPr sz="1600"/>
            </a:pPr>
            <a:r>
              <a:t>• 40% - Product development (AI, mobile app, API)</a:t>
            </a:r>
          </a:p>
          <a:p>
            <a:pPr>
              <a:defRPr sz="1600"/>
            </a:pPr>
            <a:r>
              <a:t>• 30% - Marketing &amp; customer acquisition</a:t>
            </a:r>
          </a:p>
          <a:p>
            <a:pPr>
              <a:defRPr sz="1600"/>
            </a:pPr>
            <a:r>
              <a:t>• 20% - Data partnerships &amp; infrastructure</a:t>
            </a:r>
          </a:p>
          <a:p>
            <a:pPr>
              <a:defRPr sz="1600"/>
            </a:pPr>
            <a:r>
              <a:t>• 10% - Team expansion</a:t>
            </a:r>
          </a:p>
          <a:p/>
          <a:p>
            <a:pPr>
              <a:defRPr sz="1600" i="1"/>
            </a:pPr>
            <a:r>
              <a:t>Milestones: 1,000 customers (M6), $1M ARR (M18), $5M ARR (M24)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66CC"/>
                </a:solidFill>
              </a:defRPr>
            </a:pPr>
            <a:r>
              <a:t>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800" b="1"/>
            </a:pPr>
            <a:r>
              <a:t>Building the Property Intelligence Platform</a:t>
            </a:r>
          </a:p>
          <a:p/>
          <a:p>
            <a:pPr>
              <a:defRPr sz="2000" b="1"/>
            </a:pPr>
            <a:r>
              <a:t>Long-term Vision:</a:t>
            </a:r>
          </a:p>
          <a:p>
            <a:pPr>
              <a:defRPr sz="1600"/>
            </a:pPr>
            <a:r>
              <a:t>• Every property has a TrueHome history</a:t>
            </a:r>
          </a:p>
          <a:p>
            <a:pPr>
              <a:defRPr sz="1600"/>
            </a:pPr>
            <a:r>
              <a:t>• Industry standard for property transparency</a:t>
            </a:r>
          </a:p>
          <a:p>
            <a:pPr>
              <a:defRPr sz="1600"/>
            </a:pPr>
            <a:r>
              <a:t>• Platform connecting homeowners, buyers, and professionals</a:t>
            </a:r>
          </a:p>
          <a:p>
            <a:pPr>
              <a:defRPr sz="1600"/>
            </a:pPr>
            <a:r>
              <a:t>• AI-powered property insights and predictions</a:t>
            </a:r>
          </a:p>
          <a:p/>
          <a:p>
            <a:pPr>
              <a:defRPr sz="1600" i="1"/>
            </a:pPr>
            <a:r>
              <a:t>Expansion: International markets, commercial properties, insurance/lending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66CC"/>
                </a:solidFill>
              </a:defRPr>
            </a:pPr>
            <a:r>
              <a:t>Let's Build the Future of Real Estate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Key Takeaways:</a:t>
            </a:r>
          </a:p>
          <a:p>
            <a:pPr>
              <a:defRPr sz="1600"/>
            </a:pPr>
            <a:r>
              <a:t>• Massive market opportunity</a:t>
            </a:r>
          </a:p>
          <a:p>
            <a:pPr>
              <a:defRPr sz="1600"/>
            </a:pPr>
            <a:r>
              <a:t>• First-mover advantage</a:t>
            </a:r>
          </a:p>
          <a:p>
            <a:pPr>
              <a:defRPr sz="1600"/>
            </a:pPr>
            <a:r>
              <a:t>• Multiple revenue streams</a:t>
            </a:r>
          </a:p>
          <a:p>
            <a:pPr>
              <a:defRPr sz="1600"/>
            </a:pPr>
            <a:r>
              <a:t>• Strong unit 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808080"/>
                </a:solidFill>
              </a:defRPr>
            </a:pPr>
            <a:r>
              <a:t>[Your Email] | [Your Website] | [Your LinkedIn]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